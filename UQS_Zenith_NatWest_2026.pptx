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74320"/>
            <a:ext cx="1280160" cy="1280160"/>
          </a:xfrm>
          <a:prstGeom prst="ellipse">
            <a:avLst/>
          </a:prstGeom>
          <a:solidFill>
            <a:srgbClr val="42145F">
              <a:alpha val="30000"/>
            </a:srgbClr>
          </a:solidFill>
          <a:ln w="6350">
            <a:solidFill>
              <a:srgbClr val="6B1F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1024128"/>
            <a:ext cx="1280160" cy="1280160"/>
          </a:xfrm>
          <a:prstGeom prst="ellipse">
            <a:avLst/>
          </a:prstGeom>
          <a:solidFill>
            <a:srgbClr val="42145F">
              <a:alpha val="30000"/>
            </a:srgbClr>
          </a:solidFill>
          <a:ln w="6350">
            <a:solidFill>
              <a:srgbClr val="6B1F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1773936"/>
            <a:ext cx="1280160" cy="1280160"/>
          </a:xfrm>
          <a:prstGeom prst="ellipse">
            <a:avLst/>
          </a:prstGeom>
          <a:solidFill>
            <a:srgbClr val="42145F">
              <a:alpha val="30000"/>
            </a:srgbClr>
          </a:solidFill>
          <a:ln w="6350">
            <a:solidFill>
              <a:srgbClr val="6B1F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523744"/>
            <a:ext cx="1280160" cy="1280160"/>
          </a:xfrm>
          <a:prstGeom prst="ellipse">
            <a:avLst/>
          </a:prstGeom>
          <a:solidFill>
            <a:srgbClr val="42145F">
              <a:alpha val="30000"/>
            </a:srgbClr>
          </a:solidFill>
          <a:ln w="6350">
            <a:solidFill>
              <a:srgbClr val="6B1FA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3273552"/>
            <a:ext cx="1280160" cy="1280160"/>
          </a:xfrm>
          <a:prstGeom prst="ellipse">
            <a:avLst/>
          </a:prstGeom>
          <a:solidFill>
            <a:srgbClr val="42145F">
              <a:alpha val="30000"/>
            </a:srgbClr>
          </a:solidFill>
          <a:ln w="6350">
            <a:solidFill>
              <a:srgbClr val="6B1F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4023360"/>
            <a:ext cx="1280160" cy="1280160"/>
          </a:xfrm>
          <a:prstGeom prst="ellipse">
            <a:avLst/>
          </a:prstGeom>
          <a:solidFill>
            <a:srgbClr val="42145F">
              <a:alpha val="30000"/>
            </a:srgbClr>
          </a:solidFill>
          <a:ln w="6350">
            <a:solidFill>
              <a:srgbClr val="6B1F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731520"/>
            <a:ext cx="2011680" cy="2011680"/>
          </a:xfrm>
          <a:prstGeom prst="ellipse">
            <a:avLst/>
          </a:prstGeom>
          <a:solidFill>
            <a:srgbClr val="C8006C">
              <a:alpha val="15000"/>
            </a:srgbClr>
          </a:solidFill>
          <a:ln w="6350">
            <a:solidFill>
              <a:srgbClr val="E91E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65760"/>
            <a:ext cx="2743200" cy="34747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NatWest  ·  Code for Purpose  ·  2026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96012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2004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" y="22860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AI-Driven, Self-Service Business Intelligence for Everyone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114300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803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2880360"/>
            <a:ext cx="1143000" cy="320040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28803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71800" y="2880360"/>
            <a:ext cx="11430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8803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429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Zenith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7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Submission  ·  2026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 ·  Trust  ·  Speed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PROBLEM STATEMENT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can't access their own organisation's data without a data analyst or SQL expert.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0116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15568" y="2029968"/>
            <a:ext cx="512064" cy="512064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0312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624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Complex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962656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answers requires SQL knowledge, BI tools, or a data analyst. Non-technical users are completely excluded.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87168" y="1920240"/>
            <a:ext cx="20116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36976" y="2029968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21031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78608" y="2624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Slow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578608" y="2962656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workflows mean insights take hours or days. Business decisions suffer from data latency.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608576" y="1920240"/>
            <a:ext cx="20116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58384" y="2029968"/>
            <a:ext cx="512064" cy="51206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21031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00016" y="2624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700016" y="2962656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metric definitions and no source transparency make users doubt every number they see.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729984" y="1920240"/>
            <a:ext cx="20116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479792" y="2029968"/>
            <a:ext cx="512064" cy="51206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4" y="21031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21424" y="2624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Risk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21424" y="2962656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raw databases to users risks PII leakage, SQL injection, and unauthorized data access.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858000" y="48920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Universal Query Solver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SOLUTION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conversational interface. Five AI engines. LangGraph orchestration. Zero SQL knowledge required.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38404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801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ask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3657600" cy="365760"/>
          </a:xfrm>
          <a:prstGeom prst="rect">
            <a:avLst/>
          </a:prstGeom>
          <a:solidFill>
            <a:srgbClr val="F7F0FF"/>
          </a:solidFill>
          <a:ln w="6350">
            <a:solidFill>
              <a:srgbClr val="E8D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311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did revenue drop last month?"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2240280"/>
            <a:ext cx="749808" cy="292608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24028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70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profit in the next 5 months?"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2679192"/>
            <a:ext cx="749808" cy="292608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67919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3090672"/>
            <a:ext cx="3657600" cy="365760"/>
          </a:xfrm>
          <a:prstGeom prst="rect">
            <a:avLst/>
          </a:prstGeom>
          <a:solidFill>
            <a:srgbClr val="F7F0FF"/>
          </a:solidFill>
          <a:ln w="6350">
            <a:solidFill>
              <a:srgbClr val="E8D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089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breakdown of costs by department"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0" y="3118104"/>
            <a:ext cx="749808" cy="292608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11810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3529584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5478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this policy document say?"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3557016"/>
            <a:ext cx="749808" cy="292608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55701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968496"/>
            <a:ext cx="3657600" cy="365760"/>
          </a:xfrm>
          <a:prstGeom prst="rect">
            <a:avLst/>
          </a:prstGeom>
          <a:solidFill>
            <a:srgbClr val="F7F0FF"/>
          </a:solidFill>
          <a:ln w="6350">
            <a:solidFill>
              <a:srgbClr val="E8D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9867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"Compare Region A vs Region B sales"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91840" y="3995928"/>
            <a:ext cx="749808" cy="292608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99592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RAG++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97680" y="27706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006C"/>
                </a:solidFill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37760" y="1737360"/>
            <a:ext cx="38404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0" y="1801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UQS returns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0" y="2240280"/>
            <a:ext cx="310896" cy="31089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5776" y="2276856"/>
            <a:ext cx="237744" cy="237744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431536" y="22311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narrative answer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029200" y="2679192"/>
            <a:ext cx="310896" cy="310896"/>
          </a:xfrm>
          <a:prstGeom prst="ellipse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2715768"/>
            <a:ext cx="237744" cy="237744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431536" y="2670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(chart/table)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5029200" y="3118104"/>
            <a:ext cx="310896" cy="31089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3154680"/>
            <a:ext cx="237744" cy="23774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431536" y="3108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 &amp; metric definitions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5029200" y="3557016"/>
            <a:ext cx="310896" cy="310896"/>
          </a:xfrm>
          <a:prstGeom prst="ellipse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3593592"/>
            <a:ext cx="237744" cy="237744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431536" y="3547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RBAC-enforced, no sensitive data exposed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5029200" y="399592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6" y="4032504"/>
            <a:ext cx="237744" cy="237744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431536" y="3986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token-by-token streaming response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6858000" y="48920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Pillars of UQS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PILLARS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697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697480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4183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5880" y="1417320"/>
            <a:ext cx="685800" cy="685800"/>
          </a:xfrm>
          <a:prstGeom prst="ellipse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527048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29768" y="217627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anyone can understand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48056" y="265176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plain English — no SQL or jargon exposed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+ chart on every response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metric definitions via schema layer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SSE streaming so users see answers form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54680" y="914400"/>
            <a:ext cx="2697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54680" y="914400"/>
            <a:ext cx="2697480" cy="566928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0" y="94183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65760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160520" y="1417320"/>
            <a:ext cx="685800" cy="685800"/>
          </a:xfrm>
          <a:prstGeom prst="ellipse">
            <a:avLst/>
          </a:prstGeom>
          <a:solidFill>
            <a:srgbClr val="42145F">
              <a:alpha val="85000"/>
            </a:srgbClr>
          </a:solidFill>
          <a:ln w="12700">
            <a:solidFill>
              <a:srgbClr val="42145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527048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264408" y="217627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verified &amp; sourced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282696" y="265176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cites exact source tables/docs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DB-level RBAC — LLM never sees unauthorised 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logging of all queries &amp; LLM calls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detection sanitises every input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989320" y="914400"/>
            <a:ext cx="2697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989320" y="914400"/>
            <a:ext cx="269748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26480" y="94183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649224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6995160" y="1417320"/>
            <a:ext cx="685800" cy="68580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1527048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099048" y="217627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Near-instant self-service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117336" y="265176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Intelligence: sub-100ms for cached hits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short-circuits pipeline on cache hits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2B local LLM minimises inference latency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sub-queries in Analytical Engine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6858000" y="48920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ARCHITECTURE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86384"/>
            <a:ext cx="8412480" cy="31089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86384"/>
            <a:ext cx="73152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CHAT UI  ·  SSE Token Streaming  ·  5-Tab Dark Mode Interface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90688" y="786384"/>
            <a:ext cx="987552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90688" y="78638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52144"/>
            <a:ext cx="8412480" cy="310896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52144"/>
            <a:ext cx="73152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  ·  JWT Auth  ·  SlowAPI Rate Limit (30/min)  ·  Input Sanitiser  ·  CORS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90688" y="1152144"/>
            <a:ext cx="987552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0688" y="115214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1517904"/>
            <a:ext cx="841248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17904"/>
            <a:ext cx="73152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ENGINE  ·  Role → DB Views → Schema String → LLM Context Injection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90688" y="1517904"/>
            <a:ext cx="987552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0688" y="151790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Layer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1883664"/>
            <a:ext cx="8412480" cy="310896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883664"/>
            <a:ext cx="73152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CLASSIFIER  (LLM intent router: SQL / Analytical / Predictive / RAG / RAG++)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790688" y="1883664"/>
            <a:ext cx="987552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0688" y="188366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2249424"/>
            <a:ext cx="8412480" cy="31089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249424"/>
            <a:ext cx="73152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INTELLIGENCE  ·  LLM Semantic Matching  ·  4-Granularity FIFO (hourly/daily/weekly/monthly)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90688" y="2249424"/>
            <a:ext cx="987552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0688" y="224942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" y="2670048"/>
            <a:ext cx="8412480" cy="329184"/>
          </a:xfrm>
          <a:prstGeom prst="rect">
            <a:avLst/>
          </a:prstGeom>
          <a:solidFill>
            <a:srgbClr val="2D1060"/>
          </a:solidFill>
          <a:ln w="7620">
            <a:solidFill>
              <a:srgbClr val="6B1F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670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  ·  UQSState TypedDict  ·  Conditional Edges  ·  28s Node Timeouts  ·  Fault-Tolerant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054096"/>
            <a:ext cx="1627632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05409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Engine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52828" y="3054096"/>
            <a:ext cx="1627632" cy="384048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52828" y="305409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Engine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739896" y="3054096"/>
            <a:ext cx="1627632" cy="384048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9896" y="305409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Engine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26964" y="3054096"/>
            <a:ext cx="1627632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26964" y="305409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114032" y="3054096"/>
            <a:ext cx="1627632" cy="38404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14032" y="305409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RAG++ Engine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493008"/>
            <a:ext cx="8412480" cy="310896"/>
          </a:xfrm>
          <a:prstGeom prst="rect">
            <a:avLst/>
          </a:prstGeom>
          <a:solidFill>
            <a:srgbClr val="2D1B4E"/>
          </a:solidFill>
          <a:ln w="6350">
            <a:solidFill>
              <a:srgbClr val="6B1FA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9300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FORMATTER  ·  LLM Narrative  ·  Chart Builder  ·  Source Citations  ·  Confidence Bands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3858768"/>
            <a:ext cx="8412480" cy="31089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85876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 / JSON  →  Text Answer + Chart + Source Badges + Engine Tag + Latency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4261104"/>
            <a:ext cx="1965960" cy="475488"/>
          </a:xfrm>
          <a:prstGeom prst="rect">
            <a:avLst/>
          </a:prstGeom>
          <a:solidFill>
            <a:srgbClr val="1A0829"/>
          </a:solidFill>
          <a:ln w="6350">
            <a:solidFill>
              <a:srgbClr val="C8006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2793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65760" y="45354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468880" y="4261104"/>
            <a:ext cx="1965960" cy="475488"/>
          </a:xfrm>
          <a:prstGeom prst="rect">
            <a:avLst/>
          </a:prstGeom>
          <a:solidFill>
            <a:srgbClr val="1A0829"/>
          </a:solidFill>
          <a:ln w="6350">
            <a:solidFill>
              <a:srgbClr val="C8006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68880" y="42793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468880" y="45354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0" y="4261104"/>
            <a:ext cx="1965960" cy="475488"/>
          </a:xfrm>
          <a:prstGeom prst="rect">
            <a:avLst/>
          </a:prstGeom>
          <a:solidFill>
            <a:srgbClr val="1A0829"/>
          </a:solidFill>
          <a:ln w="6350">
            <a:solidFill>
              <a:srgbClr val="C8006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42793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30/min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572000" y="45354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675120" y="4261104"/>
            <a:ext cx="1965960" cy="475488"/>
          </a:xfrm>
          <a:prstGeom prst="rect">
            <a:avLst/>
          </a:prstGeom>
          <a:solidFill>
            <a:srgbClr val="1A0829"/>
          </a:solidFill>
          <a:ln w="6350">
            <a:solidFill>
              <a:srgbClr val="C8006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42793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675120" y="45354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858000" y="48920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 — Stateful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if/elif routing is brittle, unvisualisable, and un-resumable. LangGraph replaces it with a typed StateGraph where every node is independently timeout-guarded and fault-tolerant.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931920" y="1325880"/>
            <a:ext cx="1280160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325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673352"/>
            <a:ext cx="0" cy="182880"/>
          </a:xfrm>
          <a:prstGeom prst="line">
            <a:avLst/>
          </a:prstGeom>
          <a:noFill/>
          <a:ln w="12700">
            <a:solidFill>
              <a:srgbClr val="C8A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856232"/>
            <a:ext cx="2194560" cy="402336"/>
          </a:xfrm>
          <a:prstGeom prst="rect">
            <a:avLst/>
          </a:prstGeom>
          <a:solidFill>
            <a:srgbClr val="42145F"/>
          </a:solidFill>
          <a:ln w="6350">
            <a:solidFill>
              <a:srgbClr val="6B1F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8562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[classify]  LLM intent router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0" y="2057400"/>
            <a:ext cx="1188720" cy="0"/>
          </a:xfrm>
          <a:prstGeom prst="line">
            <a:avLst/>
          </a:prstGeom>
          <a:noFill/>
          <a:ln w="12700">
            <a:solidFill>
              <a:srgbClr val="E53E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1892808"/>
            <a:ext cx="1645920" cy="32918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8928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15000" y="19019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0" y="2258568"/>
            <a:ext cx="0" cy="201168"/>
          </a:xfrm>
          <a:prstGeom prst="line">
            <a:avLst/>
          </a:prstGeom>
          <a:noFill/>
          <a:ln w="12700">
            <a:solidFill>
              <a:srgbClr val="C8A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459736"/>
            <a:ext cx="2194560" cy="4023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45973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[check_cache]  5s timeout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2660904"/>
            <a:ext cx="11887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2496312"/>
            <a:ext cx="16459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4963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0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Answer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15000" y="25054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0" y="2862072"/>
            <a:ext cx="0" cy="201168"/>
          </a:xfrm>
          <a:prstGeom prst="line">
            <a:avLst/>
          </a:prstGeom>
          <a:noFill/>
          <a:ln w="12700">
            <a:solidFill>
              <a:srgbClr val="C8A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063240"/>
            <a:ext cx="15544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063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[sql_engine]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993392" y="3063240"/>
            <a:ext cx="1554480" cy="347472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93392" y="3063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[analytical]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712464" y="3063240"/>
            <a:ext cx="1554480" cy="34747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12464" y="3063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[predictive]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431536" y="3063240"/>
            <a:ext cx="155448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31536" y="3063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[rag_engine]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150608" y="3063240"/>
            <a:ext cx="1554480" cy="34747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0608" y="3063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[rag_plus_plus]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0" y="3410712"/>
            <a:ext cx="0" cy="109728"/>
          </a:xfrm>
          <a:prstGeom prst="line">
            <a:avLst/>
          </a:prstGeom>
          <a:noFill/>
          <a:ln w="12700">
            <a:solidFill>
              <a:srgbClr val="C8A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520440"/>
            <a:ext cx="2743200" cy="40233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35204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[format_response]  Assemble QueryResponse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3922776"/>
            <a:ext cx="0" cy="164592"/>
          </a:xfrm>
          <a:prstGeom prst="line">
            <a:avLst/>
          </a:prstGeom>
          <a:noFill/>
          <a:ln w="12700">
            <a:solidFill>
              <a:srgbClr val="C8A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31920" y="4087368"/>
            <a:ext cx="1280160" cy="329184"/>
          </a:xfrm>
          <a:prstGeom prst="ellipse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0" y="40873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1325880"/>
            <a:ext cx="3017520" cy="3154680"/>
          </a:xfrm>
          <a:prstGeom prst="rect">
            <a:avLst/>
          </a:prstGeom>
          <a:solidFill>
            <a:srgbClr val="1A0829"/>
          </a:solidFill>
          <a:ln w="6350">
            <a:solidFill>
              <a:srgbClr val="6B1FA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00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UQSState (TypedDict)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84048" y="170078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query: str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84048" y="202082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session_id: str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4048" y="234086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session: dict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84048" y="266090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classification: dict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84048" y="298094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cache_result: dict | None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84048" y="330098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engine_result: dict | None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84048" y="362102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final_response: QueryResponse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84048" y="394106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str | None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58000" y="48920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Robustness — Defence in Depth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UQS independently enforces security. No single point of failure can expose sensitive data.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402336"/>
          </a:xfrm>
          <a:prstGeom prst="rect">
            <a:avLst/>
          </a:prstGeom>
          <a:solidFill>
            <a:srgbClr val="F5F0FC"/>
          </a:solidFill>
          <a:ln w="3810">
            <a:solidFill>
              <a:srgbClr val="E0D0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61872"/>
            <a:ext cx="640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6187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38528" y="1316736"/>
            <a:ext cx="2011680" cy="274320"/>
          </a:xfrm>
          <a:prstGeom prst="rect">
            <a:avLst/>
          </a:prstGeom>
          <a:solidFill>
            <a:srgbClr val="42145F">
              <a:alpha val="15000"/>
            </a:srgbClr>
          </a:solidFill>
          <a:ln w="5080">
            <a:solidFill>
              <a:srgbClr val="421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1316736"/>
            <a:ext cx="20116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1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(HS256)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41648" y="1261872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embedded in token claims — every request carries its permission scope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705356"/>
            <a:ext cx="85039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0D0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705356"/>
            <a:ext cx="640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70535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38528" y="1760220"/>
            <a:ext cx="2011680" cy="274320"/>
          </a:xfrm>
          <a:prstGeom prst="rect">
            <a:avLst/>
          </a:prstGeom>
          <a:solidFill>
            <a:srgbClr val="42145F">
              <a:alpha val="15000"/>
            </a:srgbClr>
          </a:solidFill>
          <a:ln w="5080">
            <a:solidFill>
              <a:srgbClr val="421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8528" y="1760220"/>
            <a:ext cx="20116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1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DB-View RBAC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41648" y="1705356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physically cannot access unauthorised schema — schema string never contains other roles' tables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148840"/>
            <a:ext cx="8503920" cy="402336"/>
          </a:xfrm>
          <a:prstGeom prst="rect">
            <a:avLst/>
          </a:prstGeom>
          <a:solidFill>
            <a:srgbClr val="F5F0FC"/>
          </a:solidFill>
          <a:ln w="3810">
            <a:solidFill>
              <a:srgbClr val="E0D0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148840"/>
            <a:ext cx="640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1488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38528" y="2203704"/>
            <a:ext cx="2011680" cy="274320"/>
          </a:xfrm>
          <a:prstGeom prst="rect">
            <a:avLst/>
          </a:prstGeom>
          <a:solidFill>
            <a:srgbClr val="42145F">
              <a:alpha val="15000"/>
            </a:srgbClr>
          </a:solidFill>
          <a:ln w="5080">
            <a:solidFill>
              <a:srgbClr val="4214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38528" y="2203704"/>
            <a:ext cx="20116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1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SlowAPI  30 req/min per IP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41648" y="2148840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structured 429 JSON with retry_after — prevents abuse and LLM prompt flooding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592324"/>
            <a:ext cx="85039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0D0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592324"/>
            <a:ext cx="640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59232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Sanitisation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38528" y="2647188"/>
            <a:ext cx="2011680" cy="274320"/>
          </a:xfrm>
          <a:prstGeom prst="rect">
            <a:avLst/>
          </a:prstGeom>
          <a:solidFill>
            <a:srgbClr val="42145F">
              <a:alpha val="15000"/>
            </a:srgbClr>
          </a:solidFill>
          <a:ln w="5080">
            <a:solidFill>
              <a:srgbClr val="4214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38528" y="2647188"/>
            <a:ext cx="20116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1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 + 1000-char cap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041648" y="2592324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'ignore previous', 'act as', 'you are now', 'jailbreak', null bytes, oversized inputs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035808"/>
            <a:ext cx="8503920" cy="402336"/>
          </a:xfrm>
          <a:prstGeom prst="rect">
            <a:avLst/>
          </a:prstGeom>
          <a:solidFill>
            <a:srgbClr val="F5F0FC"/>
          </a:solidFill>
          <a:ln w="3810">
            <a:solidFill>
              <a:srgbClr val="E0D0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035808"/>
            <a:ext cx="640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03580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Safety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38528" y="3090672"/>
            <a:ext cx="2011680" cy="274320"/>
          </a:xfrm>
          <a:prstGeom prst="rect">
            <a:avLst/>
          </a:prstGeom>
          <a:solidFill>
            <a:srgbClr val="42145F">
              <a:alpha val="15000"/>
            </a:srgbClr>
          </a:solidFill>
          <a:ln w="5080">
            <a:solidFill>
              <a:srgbClr val="4214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38528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1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25+ keyword blocklist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041648" y="3035808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DELETE, UPDATE, INSERT, DROP, EXEC, COPY, GRANT, REVOKE + 17 more — no DML/DDL ever executes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479292"/>
            <a:ext cx="85039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0D0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479292"/>
            <a:ext cx="640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47929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Guards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938528" y="3534156"/>
            <a:ext cx="2011680" cy="274320"/>
          </a:xfrm>
          <a:prstGeom prst="rect">
            <a:avLst/>
          </a:prstGeom>
          <a:solidFill>
            <a:srgbClr val="42145F">
              <a:alpha val="15000"/>
            </a:srgbClr>
          </a:solidFill>
          <a:ln w="5080">
            <a:solidFill>
              <a:srgbClr val="4214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38528" y="3534156"/>
            <a:ext cx="20116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1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asyncio.wait_for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41648" y="3479292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28s per engine node, 5s for cache check — nodes fail open gracefully, never hang the pipeline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3922776"/>
            <a:ext cx="8503920" cy="402336"/>
          </a:xfrm>
          <a:prstGeom prst="rect">
            <a:avLst/>
          </a:prstGeom>
          <a:solidFill>
            <a:srgbClr val="F5F0FC"/>
          </a:solidFill>
          <a:ln w="3810">
            <a:solidFill>
              <a:srgbClr val="E0D0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3922776"/>
            <a:ext cx="640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392277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938528" y="3977640"/>
            <a:ext cx="2011680" cy="274320"/>
          </a:xfrm>
          <a:prstGeom prst="rect">
            <a:avLst/>
          </a:prstGeom>
          <a:solidFill>
            <a:srgbClr val="42145F">
              <a:alpha val="15000"/>
            </a:srgbClr>
          </a:solidFill>
          <a:ln w="5080">
            <a:solidFill>
              <a:srgbClr val="4214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38528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1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FastAPI handler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041648" y="3922776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exceptions → structured { error, code } JSON — stack traces never exposed to clients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4366260"/>
            <a:ext cx="85039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0D0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" y="4366260"/>
            <a:ext cx="64008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436626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938528" y="4421124"/>
            <a:ext cx="2011680" cy="274320"/>
          </a:xfrm>
          <a:prstGeom prst="rect">
            <a:avLst/>
          </a:prstGeom>
          <a:solidFill>
            <a:srgbClr val="42145F">
              <a:alpha val="15000"/>
            </a:srgbClr>
          </a:solidFill>
          <a:ln w="5080">
            <a:solidFill>
              <a:srgbClr val="4214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38528" y="4421124"/>
            <a:ext cx="20116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1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JSON logs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041648" y="4366260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query, classification result, engine response, and latency logged for compliance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858000" y="48920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Classification Engine — The Brain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CLASSIFICATION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query passes through a two-stage LLM-powered router before reaching any engine — irrelevant queries are rejected immediately.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1645920" cy="73152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 In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93392" y="16642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006C"/>
                </a:solidFill>
              </a:rPr>
              <a:t>►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1371600"/>
            <a:ext cx="1463040" cy="731520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730752" y="16642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006C"/>
                </a:solidFill>
              </a:rPr>
              <a:t>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1371600"/>
            <a:ext cx="1463040" cy="731520"/>
          </a:xfrm>
          <a:prstGeom prst="rect">
            <a:avLst/>
          </a:prstGeom>
          <a:solidFill>
            <a:srgbClr val="6B1FA2"/>
          </a:solidFill>
          <a:ln w="12700">
            <a:solidFill>
              <a:srgbClr val="6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68112" y="16642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006C"/>
                </a:solidFill>
              </a:rPr>
              <a:t>►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0" y="1371600"/>
            <a:ext cx="1280160" cy="73152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1371600"/>
            <a:ext cx="12801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022592" y="16642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006C"/>
                </a:solidFill>
              </a:rPr>
              <a:t>►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23760" y="1371600"/>
            <a:ext cx="1280160" cy="731520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0" y="1371600"/>
            <a:ext cx="12801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554480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→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234440" y="2450592"/>
            <a:ext cx="1645920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24505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Rejection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1600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26080"/>
            <a:ext cx="16002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926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3328416"/>
            <a:ext cx="1463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data access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DIN-SQL pattern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SELECT queries only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57400" y="2926080"/>
            <a:ext cx="1600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57400" y="2926080"/>
            <a:ext cx="1600200" cy="347472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2926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21408" y="3328416"/>
            <a:ext cx="1463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insights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Multi-step reasoning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Parallel SQL calls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794760" y="2926080"/>
            <a:ext cx="1600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94760" y="2926080"/>
            <a:ext cx="1600200" cy="34747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2926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58768" y="3328416"/>
            <a:ext cx="1463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forecasting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ML inference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What-if scenarios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32120" y="2926080"/>
            <a:ext cx="1600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32120" y="2926080"/>
            <a:ext cx="16002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2926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96128" y="3328416"/>
            <a:ext cx="1463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Q&amp;A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FAISS similarity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PDF/DOCX/TXT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269480" y="2926080"/>
            <a:ext cx="1600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69480" y="2926080"/>
            <a:ext cx="1600200" cy="34747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2926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RAG++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33488" y="3328416"/>
            <a:ext cx="1463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DB + Docs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Context merging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Multi-source synthesis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58000" y="48920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Engine — DIN-SQL Pattern + Self-Correction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SQL ENGINE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420624" cy="420624"/>
          </a:xfrm>
          <a:prstGeom prst="ellipse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33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" y="1463040"/>
            <a:ext cx="0" cy="137160"/>
          </a:xfrm>
          <a:prstGeom prst="line">
            <a:avLst/>
          </a:prstGeom>
          <a:noFill/>
          <a:ln w="12700">
            <a:solidFill>
              <a:srgbClr val="4214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Injection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12161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schema embedded in LLM context — only authorised views visible to the model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420624" cy="420624"/>
          </a:xfrm>
          <a:prstGeom prst="ellipse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00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" y="2130552"/>
            <a:ext cx="0" cy="137160"/>
          </a:xfrm>
          <a:prstGeom prst="line">
            <a:avLst/>
          </a:prstGeom>
          <a:noFill/>
          <a:ln w="12700">
            <a:solidFill>
              <a:srgbClr val="421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Linking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18836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explicitly maps NL query to relevant tables, columns, and joins before writing SQL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368296"/>
            <a:ext cx="420624" cy="420624"/>
          </a:xfrm>
          <a:prstGeom prst="ellipse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" y="2798064"/>
            <a:ext cx="0" cy="137160"/>
          </a:xfrm>
          <a:prstGeom prst="line">
            <a:avLst/>
          </a:prstGeom>
          <a:noFill/>
          <a:ln w="12700">
            <a:solidFill>
              <a:srgbClr val="421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295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25511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DIN-SQL / DAIL-SQL prompting with chain-of-thought reasoning generates executable SELECT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420624" cy="420624"/>
          </a:xfrm>
          <a:prstGeom prst="ellipse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" y="3465576"/>
            <a:ext cx="0" cy="137160"/>
          </a:xfrm>
          <a:prstGeom prst="line">
            <a:avLst/>
          </a:prstGeom>
          <a:noFill/>
          <a:ln w="12700">
            <a:solidFill>
              <a:srgbClr val="4214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2962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Validation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3218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blocked keywords: DELETE / UPDATE / INSERT / DROP / EXEC / COPY / GRANT / REVOKE + more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703320"/>
            <a:ext cx="420624" cy="420624"/>
          </a:xfrm>
          <a:prstGeom prst="ellipse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03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6072" y="4133088"/>
            <a:ext cx="0" cy="137160"/>
          </a:xfrm>
          <a:prstGeom prst="line">
            <a:avLst/>
          </a:prstGeom>
          <a:noFill/>
          <a:ln w="12700">
            <a:solidFill>
              <a:srgbClr val="4214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Retry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" y="38862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errors fed back to LLM for one self-correction retry; fails gracefully if still wrong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4370832"/>
            <a:ext cx="420624" cy="420624"/>
          </a:xfrm>
          <a:prstGeom prst="ellipse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70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Explanation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4400" y="45537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always accompanied by plain-English LLM narrative and source table citation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29200" y="960120"/>
            <a:ext cx="3749040" cy="3931920"/>
          </a:xfrm>
          <a:prstGeom prst="rect">
            <a:avLst/>
          </a:prstGeom>
          <a:solidFill>
            <a:srgbClr val="FAFAFA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0" y="960120"/>
            <a:ext cx="3749040" cy="347472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74920" y="1417320"/>
            <a:ext cx="3611880" cy="457200"/>
          </a:xfrm>
          <a:prstGeom prst="rect">
            <a:avLst/>
          </a:prstGeom>
          <a:solidFill>
            <a:srgbClr val="F0EBF8"/>
          </a:solidFill>
          <a:ln w="3810">
            <a:solidFill>
              <a:srgbClr val="E0D0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38928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Query: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138928" y="16367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08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"Show total sales by region for Feb 2026"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74920" y="1938528"/>
            <a:ext cx="3611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D0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38928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Linked: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138928" y="21579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sales_fact_view → region, sale_date, revenue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74920" y="2459736"/>
            <a:ext cx="3611880" cy="1005840"/>
          </a:xfrm>
          <a:prstGeom prst="rect">
            <a:avLst/>
          </a:prstGeom>
          <a:solidFill>
            <a:srgbClr val="EEF4FF"/>
          </a:solidFill>
          <a:ln w="3810">
            <a:solidFill>
              <a:srgbClr val="E0D0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38928" y="2487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SQL: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138928" y="2679192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region, SUM(revenue)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sales_fact_view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DATE_TRUNC('month',sale_date)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'2026-02-01'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region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SUM(revenue) DESC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74920" y="3529584"/>
            <a:ext cx="3611880" cy="457200"/>
          </a:xfrm>
          <a:prstGeom prst="rect">
            <a:avLst/>
          </a:prstGeom>
          <a:solidFill>
            <a:srgbClr val="E8FAF5"/>
          </a:solidFill>
          <a:ln w="3810">
            <a:solidFill>
              <a:srgbClr val="E0D0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38928" y="35570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138928" y="3749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North: £4.2M, South: £3.1M (-11% MoM)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sales_fact_view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58000" y="48920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Engine — Algorithm Brain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acts as an Algorithm Brain — it deconstructs complex questions, selects statistical methods, orchestrates parallel SQL calls, and synthesises results.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6517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17320"/>
            <a:ext cx="64008" cy="10241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5087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2064" y="18196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has revenue trended over 6 months?"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517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417320"/>
            <a:ext cx="64008" cy="10241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15087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Diagnostic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46704" y="18196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did churn increase in March?"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6517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417320"/>
            <a:ext cx="64008" cy="1024128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5087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18196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Region A compare to Region B?"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587752"/>
            <a:ext cx="26517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587752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26791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/ Scenario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2064" y="2990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 we reduce ad spend by 20%?"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2587752"/>
            <a:ext cx="26517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587752"/>
            <a:ext cx="64008" cy="10241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26791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46704" y="2990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weekly pattern in support tickets"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2587752"/>
            <a:ext cx="26517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587752"/>
            <a:ext cx="64008" cy="1024128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1344" y="26791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81344" y="2990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"Break down total costs by department"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767328"/>
            <a:ext cx="8412480" cy="96012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3813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Algorithm Brain works: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114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Decompose complex NL query into sub-questions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09160" y="4114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Select statistical method (regression, correlation, YoY delta)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389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Orchestrate parallel SQL calls across relevant views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09160" y="4389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Synthesise multi-source results into coherent narrative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48920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Engine — Zero-Expertise ML Forecasting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PREDICTIONS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profit will I make in the next 5 months?"  ← UQS handles this end-to-end automatically.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206240" cy="530352"/>
          </a:xfrm>
          <a:prstGeom prst="rect">
            <a:avLst/>
          </a:prstGeom>
          <a:solidFill>
            <a:srgbClr val="F7F0FF"/>
          </a:solidFill>
          <a:ln w="5080">
            <a:solidFill>
              <a:srgbClr val="E0D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26187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2984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Pull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1517904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Engine fetches historical time-series for the target metric from role-scoped views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901952"/>
            <a:ext cx="420624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0D0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90195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9385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Pool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2157984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XGBoost, RandomForest, LightGBM, Prophet, IsolationForest simultaneously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542032"/>
            <a:ext cx="4206240" cy="530352"/>
          </a:xfrm>
          <a:prstGeom prst="rect">
            <a:avLst/>
          </a:prstGeom>
          <a:solidFill>
            <a:srgbClr val="F7F0FF"/>
          </a:solidFill>
          <a:ln w="5080">
            <a:solidFill>
              <a:srgbClr val="E0D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54203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5786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2798064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chosen by RMSE / F1 / MAE / Silhouette score — zero user input needed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420624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0D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18211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218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3438144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model generates forecast with confidence intervals for requested horizon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822192"/>
            <a:ext cx="4206240" cy="530352"/>
          </a:xfrm>
          <a:prstGeom prst="rect">
            <a:avLst/>
          </a:prstGeom>
          <a:solidFill>
            <a:srgbClr val="F7F0FF"/>
          </a:solidFill>
          <a:ln w="5080">
            <a:solidFill>
              <a:srgbClr val="E0D0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82219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38587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" y="4078224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translates forecast output into plain-English business narrative with chart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1261872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261872"/>
            <a:ext cx="4023360" cy="34747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2618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&amp; Continual Learning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1719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1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20116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target_revenue/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92040" y="22494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v1/  (model + metadata)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92040" y="24871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v2/  (updated)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92040" y="2724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active → v2  ●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92040" y="29626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target_churn/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92040" y="32004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v1/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3538728"/>
            <a:ext cx="1783080" cy="292608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5387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Retraining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66560" y="3538728"/>
            <a:ext cx="178308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35387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Auto-Promote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46320" y="3904488"/>
            <a:ext cx="1783080" cy="292608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9044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5-Version Rollback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766560" y="3904488"/>
            <a:ext cx="1783080" cy="29260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39044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Override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58000" y="48920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RAG++ Engines — Document Intelligence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RAG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148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411480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  —  Document Q&amp;A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76272" y="1371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TXT via /api/documents/upload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746504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746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76272" y="17465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512-token chunks, 64-token overlap — preserves context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121408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121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76272" y="21214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· 384-dim · 22M params · fully local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496312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496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Index: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176272" y="2496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search — zero infra for hackathon; Qdrant roadmap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871216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871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Retrieval: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76272" y="28712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→ Top-5 most relevant chunks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246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 + Refs: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76272" y="3246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 with document filename + page references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914400"/>
            <a:ext cx="41148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914400"/>
            <a:ext cx="4114800" cy="41148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RAG++ Engine  —  Hybrid DB + Documents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00600" y="1417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like "Does the Q3 report match our actual sales numbers?" — compares uploaded PDFs against live database figures in one unified response.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2194560"/>
            <a:ext cx="16459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Engine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Data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040880" y="2194560"/>
            <a:ext cx="164592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Chunks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32120" y="2761488"/>
            <a:ext cx="2468880" cy="384048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2761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Merging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32120" y="3255264"/>
            <a:ext cx="2468880" cy="38404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32552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 Answer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37124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DB tables + Document pages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1554480" cy="274320"/>
          </a:xfrm>
          <a:prstGeom prst="rect">
            <a:avLst/>
          </a:prstGeom>
          <a:solidFill>
            <a:srgbClr val="00897B">
              <a:alpha val="20000"/>
            </a:srgbClr>
          </a:solidFill>
          <a:ln w="6350">
            <a:solidFill>
              <a:srgbClr val="00897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103120" y="4069080"/>
            <a:ext cx="1554480" cy="274320"/>
          </a:xfrm>
          <a:prstGeom prst="rect">
            <a:avLst/>
          </a:prstGeom>
          <a:solidFill>
            <a:srgbClr val="00897B">
              <a:alpha val="20000"/>
            </a:srgbClr>
          </a:solidFill>
          <a:ln w="6350">
            <a:solidFill>
              <a:srgbClr val="0089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0312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840480" y="4069080"/>
            <a:ext cx="1554480" cy="274320"/>
          </a:xfrm>
          <a:prstGeom prst="rect">
            <a:avLst/>
          </a:prstGeom>
          <a:solidFill>
            <a:srgbClr val="00897B">
              <a:alpha val="20000"/>
            </a:srgbClr>
          </a:solidFill>
          <a:ln w="6350">
            <a:solidFill>
              <a:srgbClr val="0089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577840" y="4069080"/>
            <a:ext cx="1554480" cy="274320"/>
          </a:xfrm>
          <a:prstGeom prst="rect">
            <a:avLst/>
          </a:prstGeom>
          <a:solidFill>
            <a:srgbClr val="00897B">
              <a:alpha val="20000"/>
            </a:srgbClr>
          </a:solidFill>
          <a:ln w="6350">
            <a:solidFill>
              <a:srgbClr val="00897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(roadmap)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315200" y="4069080"/>
            <a:ext cx="1554480" cy="274320"/>
          </a:xfrm>
          <a:prstGeom prst="rect">
            <a:avLst/>
          </a:prstGeom>
          <a:solidFill>
            <a:srgbClr val="00897B">
              <a:alpha val="20000"/>
            </a:srgbClr>
          </a:solidFill>
          <a:ln w="6350">
            <a:solidFill>
              <a:srgbClr val="0089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(roadmap)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58000" y="48920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Intelligence &amp; RBAC Security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CACHE &amp; SECURITY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2062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4206240" cy="38404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Cache Intelligence Layer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4023360" cy="512064"/>
          </a:xfrm>
          <a:prstGeom prst="rect">
            <a:avLst/>
          </a:prstGeom>
          <a:solidFill>
            <a:srgbClr val="F5F0FC"/>
          </a:solidFill>
          <a:ln w="5080">
            <a:solidFill>
              <a:srgbClr val="E0D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417320"/>
            <a:ext cx="73152" cy="5120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4447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16733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10 hourly summaries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66160" y="1508760"/>
            <a:ext cx="77724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039112"/>
            <a:ext cx="402336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E0D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039112"/>
            <a:ext cx="73152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0665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22951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10 daily digests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566160" y="2130552"/>
            <a:ext cx="77724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1305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&lt;80ms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2660904"/>
            <a:ext cx="4023360" cy="512064"/>
          </a:xfrm>
          <a:prstGeom prst="rect">
            <a:avLst/>
          </a:prstGeom>
          <a:solidFill>
            <a:srgbClr val="F5F0FC"/>
          </a:solidFill>
          <a:ln w="5080">
            <a:solidFill>
              <a:srgbClr val="E0D0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660904"/>
            <a:ext cx="73152" cy="512064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6883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29169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10 weekly reports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566160" y="2752344"/>
            <a:ext cx="777240" cy="292608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275234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&lt;80ms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282696"/>
            <a:ext cx="402336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E0D0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282696"/>
            <a:ext cx="73152" cy="512064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3101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" y="35387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10 monthly analyses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66160" y="3374136"/>
            <a:ext cx="777240" cy="292608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337413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" y="3977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cache node has a 5s timeout — fails open (cache miss) so a slow cache never blocks the user.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914400"/>
            <a:ext cx="4114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914400"/>
            <a:ext cx="41148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DB-Level RBAC  (5 Roles)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00600" y="1417320"/>
            <a:ext cx="3931920" cy="438912"/>
          </a:xfrm>
          <a:prstGeom prst="rect">
            <a:avLst/>
          </a:prstGeom>
          <a:solidFill>
            <a:srgbClr val="EEF4FF"/>
          </a:solidFill>
          <a:ln w="5080">
            <a:solidFill>
              <a:srgbClr val="D0DF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1417320"/>
            <a:ext cx="64008" cy="43891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453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37760" y="16367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views + all columns — no restrictions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00600" y="1929384"/>
            <a:ext cx="39319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F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1929384"/>
            <a:ext cx="64008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1965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Manager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37760" y="2148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Region-filtered aggregated views, no PII columns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00600" y="2441448"/>
            <a:ext cx="3931920" cy="438912"/>
          </a:xfrm>
          <a:prstGeom prst="rect">
            <a:avLst/>
          </a:prstGeom>
          <a:solidFill>
            <a:srgbClr val="EEF4FF"/>
          </a:solidFill>
          <a:ln w="5080">
            <a:solidFill>
              <a:srgbClr val="D0DF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2441448"/>
            <a:ext cx="64008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24780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37760" y="2660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metrics views only, no row-level data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00600" y="2953512"/>
            <a:ext cx="39319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FF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2953512"/>
            <a:ext cx="64008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2990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937760" y="3172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tables only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00600" y="3465576"/>
            <a:ext cx="3931920" cy="438912"/>
          </a:xfrm>
          <a:prstGeom prst="rect">
            <a:avLst/>
          </a:prstGeom>
          <a:solidFill>
            <a:srgbClr val="EEF4FF"/>
          </a:solidFill>
          <a:ln w="5080">
            <a:solidFill>
              <a:srgbClr val="D0DF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00600" y="3465576"/>
            <a:ext cx="64008" cy="438912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35021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937760" y="3685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dashboard views only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73168" y="40416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context manager injects only the role's schema — the model physically cannot reference unauthorised tables.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858000" y="48920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TECH STACK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1188720" cy="658368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0.2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581912" y="9966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81912" y="12527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StateGraph — visual, resumable, per-node timeouts, fault-tolerant routing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27448" y="96012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960120"/>
            <a:ext cx="1188720" cy="658368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96012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2B (Ollama)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89320" y="9966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89320" y="12527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params, free, fully local, swappable to OpenAI / Anthropic via env var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171907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719072"/>
            <a:ext cx="118872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71907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DIN-SQL / DAIL-SQL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81912" y="17556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NL→SQL Patterns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81912" y="20116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text-to-SQL (2023-24) with schema linking step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27448" y="171907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1719072"/>
            <a:ext cx="1188720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171907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89320" y="17556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Framework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89320" y="20116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auto OpenAPI docs, native SSE streaming support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0040" y="2478024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478024"/>
            <a:ext cx="118872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47802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(PG)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581912" y="25146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581912" y="27706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PostgreSQL, RBAC views, free tier generous for development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27448" y="2478024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27448" y="2478024"/>
            <a:ext cx="1188720" cy="65836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48" y="247802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→ Qdrant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89320" y="25146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89320" y="27706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 for hackathon; Qdrant config ready for production scale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0040" y="3236976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236976"/>
            <a:ext cx="11887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23697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581912" y="32735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581912" y="3529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 params, 384-dim, fast, highly accurate, fully local sentence-transformers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727448" y="3236976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27448" y="3236976"/>
            <a:ext cx="1188720" cy="658368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27448" y="323697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XGBoost/Prophet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89320" y="32735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989320" y="3529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LightGBM, RandomForest, Prophet — battle-tested ensemble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20040" y="3995928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3995928"/>
            <a:ext cx="1188720" cy="6583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9959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581912" y="40325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581912" y="42885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Production-grade, FastAPI-native, 30 req/min per IP, structured 429 responses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727448" y="3995928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27448" y="3995928"/>
            <a:ext cx="118872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27448" y="39959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989320" y="40325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989320" y="42885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TypeScript strict, native SSE fetch, dark-mode design system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58000" y="48920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User Journey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DATA FLOW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did sales drop in February?"  →  From natural language to trusted insight in milliseconds.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438912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2104" y="13441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" y="1600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decoded → role extracted → role-scoped schema injected into LLM context. Other roles' tables invisible.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27448" y="1298448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298448"/>
            <a:ext cx="438912" cy="7132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298448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39512" y="13441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&amp; Sanitise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39512" y="1600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 enforces 30 req/min per IP. Input sanitiser strips injection patterns, null bytes, truncates at 1000 chars.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139696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39696"/>
            <a:ext cx="438912" cy="713232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139696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" y="218541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Classify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" y="2441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node evaluates: relevant? what engine type? Irrelevant → polite rejection. 28s timeout guard.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27448" y="2139696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27448" y="2139696"/>
            <a:ext cx="438912" cy="71323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2139696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39512" y="218541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Cache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39512" y="2441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semantic cache check. HIT → return cached answer in &lt;100ms — no engine invoked, pipeline short-circuits.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2980944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980944"/>
            <a:ext cx="438912" cy="71323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980944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2104" y="30266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Execution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" y="32826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engine (SQL/Analytical/Predictive/RAG/RAG++) processes the query with all safety checks active.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27448" y="2980944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27448" y="2980944"/>
            <a:ext cx="438912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2980944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39512" y="30266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Stream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39512" y="32826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assembles narrative + chart + sources. SSE streams tokens word-by-word to frontend in real time.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23744" y="3822192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23744" y="3822192"/>
            <a:ext cx="43891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23744" y="3822192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035808" y="386791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035808" y="4123944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query, classification, LLM call, engine, result, and latency logged to structured JSON audit trail.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58000" y="48920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Status &amp;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STATUS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2062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420624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39903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database, auth, rbac, logger, security.py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55905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5499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state.py, nodes.py, pipeline.py ⭐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171907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7099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pluggable client (Ollama/OpenAI/Anthropic)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187909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18699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context_manager + 7 system prompts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203911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0299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Engine: DIN-SQL + self-correction loop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219913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1899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Engine: Algorithm Brain + parallel SQL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235915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3500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Engine: multi-model pool + inference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251917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5100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Engine: FAISS vector retrieval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267919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2670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RAG++ Engine: hybrid DB + document merging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83921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28300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Cache: 4-granularity FIFO + APScheduler cron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" y="299923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2990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registry, trainer, evaluator, continual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315925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31501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/query, /query/stream (SSE), /documents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" y="331927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3310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admin rollback, cache flush, retrain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" y="347929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34701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Next.js 16 dark-mode 5-tab SPA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363931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36301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SSE streaming + ChartRenderer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11480" y="379933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37901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test_core.py unit tests suite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09160" y="91440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914400"/>
            <a:ext cx="41148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Known Limitations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00600" y="1389888"/>
            <a:ext cx="201168" cy="201168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84064" y="1389888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not yet included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00600" y="1682496"/>
            <a:ext cx="201168" cy="201168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84064" y="1682496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 needs manual policy setup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00600" y="1975104"/>
            <a:ext cx="201168" cy="201168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84064" y="1975104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SSE simulation (not true token-by-token)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00600" y="2267712"/>
            <a:ext cx="201168" cy="201168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84064" y="2267712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backend (currently file-based JSON)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00600" y="2560320"/>
            <a:ext cx="201168" cy="201168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84064" y="2560320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needs Docker (config ready)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09160" y="2852928"/>
            <a:ext cx="411480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2145F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09160" y="2852928"/>
            <a:ext cx="4114800" cy="384048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28529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Roadmap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800600" y="3328416"/>
            <a:ext cx="201168" cy="201168"/>
          </a:xfrm>
          <a:prstGeom prst="rect">
            <a:avLst/>
          </a:prstGeom>
          <a:solidFill>
            <a:srgbClr val="C8006C">
              <a:alpha val="70000"/>
            </a:srgbClr>
          </a:solidFill>
          <a:ln w="6350">
            <a:solidFill>
              <a:srgbClr val="C8006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84064" y="3328416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one-command startup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800600" y="3593592"/>
            <a:ext cx="201168" cy="201168"/>
          </a:xfrm>
          <a:prstGeom prst="rect">
            <a:avLst/>
          </a:prstGeom>
          <a:solidFill>
            <a:srgbClr val="C8006C">
              <a:alpha val="70000"/>
            </a:srgbClr>
          </a:solidFill>
          <a:ln w="6350">
            <a:solidFill>
              <a:srgbClr val="C8006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84064" y="3593592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Qdrant production backends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800600" y="3858768"/>
            <a:ext cx="201168" cy="201168"/>
          </a:xfrm>
          <a:prstGeom prst="rect">
            <a:avLst/>
          </a:prstGeom>
          <a:solidFill>
            <a:srgbClr val="C8006C">
              <a:alpha val="70000"/>
            </a:srgbClr>
          </a:solidFill>
          <a:ln w="6350">
            <a:solidFill>
              <a:srgbClr val="C8006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84064" y="3858768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PEFT / EWC incremental learning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800600" y="4123944"/>
            <a:ext cx="201168" cy="201168"/>
          </a:xfrm>
          <a:prstGeom prst="rect">
            <a:avLst/>
          </a:prstGeom>
          <a:solidFill>
            <a:srgbClr val="C8006C">
              <a:alpha val="70000"/>
            </a:srgbClr>
          </a:solidFill>
          <a:ln w="6350">
            <a:solidFill>
              <a:srgbClr val="C8006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84064" y="4123944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(GitHub Actions)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800600" y="4389120"/>
            <a:ext cx="201168" cy="201168"/>
          </a:xfrm>
          <a:prstGeom prst="rect">
            <a:avLst/>
          </a:prstGeom>
          <a:solidFill>
            <a:srgbClr val="C8006C">
              <a:alpha val="70000"/>
            </a:srgbClr>
          </a:solidFill>
          <a:ln w="6350">
            <a:solidFill>
              <a:srgbClr val="C8006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84064" y="4389120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/ BigQuery connectors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800600" y="4654296"/>
            <a:ext cx="201168" cy="201168"/>
          </a:xfrm>
          <a:prstGeom prst="rect">
            <a:avLst/>
          </a:prstGeom>
          <a:solidFill>
            <a:srgbClr val="C8006C">
              <a:alpha val="70000"/>
            </a:srgbClr>
          </a:solidFill>
          <a:ln w="6350">
            <a:solidFill>
              <a:srgbClr val="C8006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84064" y="4654296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+ Mobile app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0829"/>
          </a:solidFill>
          <a:ln w="12700">
            <a:solidFill>
              <a:srgbClr val="1A082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858000" y="48920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0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82880"/>
            <a:ext cx="1645920" cy="1645920"/>
          </a:xfrm>
          <a:prstGeom prst="ellipse">
            <a:avLst/>
          </a:prstGeom>
          <a:solidFill>
            <a:srgbClr val="42145F">
              <a:alpha val="25000"/>
            </a:srgbClr>
          </a:solidFill>
          <a:ln w="6350">
            <a:solidFill>
              <a:srgbClr val="6B1F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1097280"/>
            <a:ext cx="1645920" cy="1645920"/>
          </a:xfrm>
          <a:prstGeom prst="ellipse">
            <a:avLst/>
          </a:prstGeom>
          <a:solidFill>
            <a:srgbClr val="42145F">
              <a:alpha val="25000"/>
            </a:srgbClr>
          </a:solidFill>
          <a:ln w="6350">
            <a:solidFill>
              <a:srgbClr val="6B1F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011680"/>
            <a:ext cx="1645920" cy="1645920"/>
          </a:xfrm>
          <a:prstGeom prst="ellipse">
            <a:avLst/>
          </a:prstGeom>
          <a:solidFill>
            <a:srgbClr val="42145F">
              <a:alpha val="25000"/>
            </a:srgbClr>
          </a:solidFill>
          <a:ln w="6350">
            <a:solidFill>
              <a:srgbClr val="6B1F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926080"/>
            <a:ext cx="1645920" cy="1645920"/>
          </a:xfrm>
          <a:prstGeom prst="ellipse">
            <a:avLst/>
          </a:prstGeom>
          <a:solidFill>
            <a:srgbClr val="42145F">
              <a:alpha val="25000"/>
            </a:srgbClr>
          </a:solidFill>
          <a:ln w="6350">
            <a:solidFill>
              <a:srgbClr val="6B1F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3840480"/>
            <a:ext cx="1645920" cy="1645920"/>
          </a:xfrm>
          <a:prstGeom prst="ellipse">
            <a:avLst/>
          </a:prstGeom>
          <a:solidFill>
            <a:srgbClr val="42145F">
              <a:alpha val="25000"/>
            </a:srgbClr>
          </a:solidFill>
          <a:ln w="6350">
            <a:solidFill>
              <a:srgbClr val="6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UQS Wins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2926080" cy="54864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34440"/>
            <a:ext cx="4069080" cy="914400"/>
          </a:xfrm>
          <a:prstGeom prst="rect">
            <a:avLst/>
          </a:prstGeom>
          <a:solidFill>
            <a:srgbClr val="1A0829"/>
          </a:solidFill>
          <a:ln w="5080">
            <a:solidFill>
              <a:srgbClr val="4214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43560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60704" y="13075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User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60704" y="1600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staff get instant data answers — no SQL, no analyst, no waiting.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3440" y="1234440"/>
            <a:ext cx="4069080" cy="914400"/>
          </a:xfrm>
          <a:prstGeom prst="rect">
            <a:avLst/>
          </a:prstGeom>
          <a:solidFill>
            <a:srgbClr val="1A0829"/>
          </a:solidFill>
          <a:ln w="5080">
            <a:solidFill>
              <a:srgbClr val="42145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73168" y="1435608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08760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58384" y="13075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Bank-Grade Security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358384" y="1600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DB-level RBAC + SlowAPI + prompt injection defence meets financial compliance.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65760" y="2286000"/>
            <a:ext cx="4069080" cy="914400"/>
          </a:xfrm>
          <a:prstGeom prst="rect">
            <a:avLst/>
          </a:prstGeom>
          <a:solidFill>
            <a:srgbClr val="1A0829"/>
          </a:solidFill>
          <a:ln w="5080">
            <a:solidFill>
              <a:srgbClr val="42145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75488" y="248716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60704" y="23591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 Latency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1060704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short-circuits on cache hits — sub-100ms for most repeated business queries.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663440" y="2286000"/>
            <a:ext cx="4069080" cy="914400"/>
          </a:xfrm>
          <a:prstGeom prst="rect">
            <a:avLst/>
          </a:prstGeom>
          <a:solidFill>
            <a:srgbClr val="1A0829"/>
          </a:solidFill>
          <a:ln w="5080">
            <a:solidFill>
              <a:srgbClr val="42145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773168" y="2487168"/>
            <a:ext cx="475488" cy="475488"/>
          </a:xfrm>
          <a:prstGeom prst="ellipse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560320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58384" y="23591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Advantage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358384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resumable, fault-tolerant pipeline. Per-node timeouts mean no request hangs.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365760" y="3337560"/>
            <a:ext cx="4069080" cy="914400"/>
          </a:xfrm>
          <a:prstGeom prst="rect">
            <a:avLst/>
          </a:prstGeom>
          <a:solidFill>
            <a:srgbClr val="1A0829"/>
          </a:solidFill>
          <a:ln w="5080">
            <a:solidFill>
              <a:srgbClr val="42145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75488" y="3538728"/>
            <a:ext cx="475488" cy="475488"/>
          </a:xfrm>
          <a:prstGeom prst="ellipse">
            <a:avLst/>
          </a:prstGeom>
          <a:solidFill>
            <a:srgbClr val="42145F"/>
          </a:solidFill>
          <a:ln w="12700">
            <a:solidFill>
              <a:srgbClr val="42145F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11880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60704" y="34107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2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Ready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060704" y="3703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modular engines, versioned ML models, APScheduler cron — production by design.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4663440" y="3337560"/>
            <a:ext cx="4069080" cy="914400"/>
          </a:xfrm>
          <a:prstGeom prst="rect">
            <a:avLst/>
          </a:prstGeom>
          <a:solidFill>
            <a:srgbClr val="1A0829"/>
          </a:solidFill>
          <a:ln w="5080">
            <a:solidFill>
              <a:srgbClr val="42145F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773168" y="3538728"/>
            <a:ext cx="475488" cy="475488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611880"/>
            <a:ext cx="329184" cy="32918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358384" y="34107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All 3 Pillars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5358384" y="3703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+ Trust + Speed — every decision maps directly to the hackathon brief.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8006C"/>
          </a:solidFill>
          <a:ln w="12700">
            <a:solidFill>
              <a:srgbClr val="C8006C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Query Solver  ·  Team Zenith  ·  NatWest Code for Purpose 2026  ·  Clarity · Trust · Speed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 Query Solver — NatWest Code for Purpose 2026</dc:title>
  <dc:subject>PptxGenJS Presentation</dc:subject>
  <dc:creator>Team Zenith</dc:creator>
  <cp:lastModifiedBy>Team Zenith</cp:lastModifiedBy>
  <cp:revision>1</cp:revision>
  <dcterms:created xsi:type="dcterms:W3CDTF">2026-04-12T12:21:43Z</dcterms:created>
  <dcterms:modified xsi:type="dcterms:W3CDTF">2026-04-12T12:21:43Z</dcterms:modified>
</cp:coreProperties>
</file>